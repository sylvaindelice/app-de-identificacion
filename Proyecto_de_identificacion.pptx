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3011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931920"/>
            <a:ext cx="4206240" cy="4206240"/>
          </a:xfrm>
          <a:prstGeom prst="ellipse">
            <a:avLst/>
          </a:prstGeom>
          <a:solidFill>
            <a:srgbClr val="161C4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10332720" y="4572000"/>
            <a:ext cx="2926080" cy="2926080"/>
          </a:xfrm>
          <a:prstGeom prst="ellipse">
            <a:avLst/>
          </a:prstGeom>
          <a:ln w="19050">
            <a:solidFill>
              <a:srgbClr val="00B8A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10881360" y="5120640"/>
            <a:ext cx="1828800" cy="1828800"/>
          </a:xfrm>
          <a:prstGeom prst="ellipse">
            <a:avLst/>
          </a:prstGeom>
          <a:ln w="19050">
            <a:solidFill>
              <a:srgbClr val="00B8A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PROYECTO DE TÍTULO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9052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móvil de verificación de identidad mediante comparación biométrica facial para control de acceso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móvil desarrollada en Python  ·  Ingeniería Informática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" y="5989320"/>
            <a:ext cx="1828800" cy="0"/>
          </a:xfrm>
          <a:prstGeom prst="line">
            <a:avLst/>
          </a:prstGeom>
          <a:noFill/>
          <a:ln w="25400">
            <a:solidFill>
              <a:srgbClr val="00B8A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 avance  ·  Agosto 2026</a:t>
            </a:r>
            <a:endParaRPr lang="en-US" sz="13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EC66127-9CA8-4B7A-1E5D-68DA327B03D1}"/>
              </a:ext>
            </a:extLst>
          </p:cNvPr>
          <p:cNvSpPr txBox="1"/>
          <p:nvPr/>
        </p:nvSpPr>
        <p:spPr>
          <a:xfrm>
            <a:off x="658368" y="5029204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SYLVAIN DELICE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Problemática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los métodos de control de acceso actuales no son suficientes?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5F8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960120" y="22402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202" y="244236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físicas vulnerables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79476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Tarjetas y carnets pueden prestarse, perderse o robarse, permitiendo que una persona ingrese haciéndose pasar por otra.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192024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5F8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4709160" y="22402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1242" y="244236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32004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visual manual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63440" y="379476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verificación de identidad a cargo de un guardia u operador depende de su criterio, y está sujeta a error y fatiga.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192024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5F8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1"/>
          <p:cNvSpPr/>
          <p:nvPr/>
        </p:nvSpPr>
        <p:spPr>
          <a:xfrm>
            <a:off x="8458200" y="22402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0282" y="244236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32004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registro auditable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12480" y="379476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estos controles no dejan evidencia digital verificable de quién intentó acceder ni cuándo.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3248" y="685800"/>
            <a:ext cx="1371600" cy="1371600"/>
          </a:xfrm>
          <a:prstGeom prst="ellipse">
            <a:avLst/>
          </a:prstGeom>
          <a:solidFill>
            <a:srgbClr val="00B8A9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864" y="1042416"/>
            <a:ext cx="65836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860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63040" y="2834640"/>
            <a:ext cx="92628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Desarrollar una aplicación móvil que verifique la identidad de una persona comparando una fotografía capturada en vivo con la fotografía de su documento de identidad, para otorgar o denegar el acceso a un recinto o sistema.</a:t>
            </a:r>
            <a:endParaRPr lang="en-US" sz="24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3E67907-D497-E2DA-0933-2A859A359798}"/>
              </a:ext>
            </a:extLst>
          </p:cNvPr>
          <p:cNvSpPr txBox="1"/>
          <p:nvPr/>
        </p:nvSpPr>
        <p:spPr>
          <a:xfrm>
            <a:off x="487680" y="6319520"/>
            <a:ext cx="1641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SYLVAIN DELICE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específicos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731520" cy="731520"/>
          </a:xfrm>
          <a:prstGeom prst="ellipse">
            <a:avLst/>
          </a:prstGeom>
          <a:solidFill>
            <a:srgbClr val="00B8A9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" y="1790395"/>
            <a:ext cx="351130" cy="3511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55448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 imágenes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554480" y="201168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Fotografiar el documento de identidad y una selfie en vivo desde la app móvil.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172200" y="1600200"/>
            <a:ext cx="731520" cy="731520"/>
          </a:xfrm>
          <a:prstGeom prst="ellipse">
            <a:avLst/>
          </a:prstGeom>
          <a:solidFill>
            <a:srgbClr val="00B8A9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2395" y="1790395"/>
            <a:ext cx="351130" cy="3511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86600" y="155448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biométrica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086600" y="201168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el rostro en ambas imágenes y generar sus representaciones vectoriales (embeddings).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3703320"/>
            <a:ext cx="731520" cy="731520"/>
          </a:xfrm>
          <a:prstGeom prst="ellipse">
            <a:avLst/>
          </a:prstGeom>
          <a:solidFill>
            <a:srgbClr val="00B8A9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75" y="3893515"/>
            <a:ext cx="351130" cy="3511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365760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y registro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554480" y="411480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los embeddings contra un umbral y registrar cada verificación realizada.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172200" y="3703320"/>
            <a:ext cx="731520" cy="731520"/>
          </a:xfrm>
          <a:prstGeom prst="ellipse">
            <a:avLst/>
          </a:prstGeom>
          <a:solidFill>
            <a:srgbClr val="00B8A9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2395" y="3893515"/>
            <a:ext cx="351130" cy="35113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086600" y="365760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desempeño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7086600" y="411480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exactitud, tasa de falsos positivos (FAR) y falsos negativos (FRR) del sistema.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del sistema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cliente–servidor: el procesamiento biométrico ocurre en el backend, no en el dispositivo.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063240" cy="2286000"/>
          </a:xfrm>
          <a:prstGeom prst="roundRect">
            <a:avLst>
              <a:gd name="adj" fmla="val 4800"/>
            </a:avLst>
          </a:prstGeom>
          <a:solidFill>
            <a:srgbClr val="F5F8FF"/>
          </a:solidFill>
          <a:ln w="12700">
            <a:solidFill>
              <a:srgbClr val="1E2761"/>
            </a:solidFill>
            <a:prstDash val="solid"/>
          </a:ln>
          <a:effectLst>
            <a:outerShdw blurRad="635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1714500" y="2587752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695" y="2777947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41071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móvil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37216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Kivy / KivyMD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40233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la foto del documento y la selfie en vivo; muestra el resultado.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26280" y="2331720"/>
            <a:ext cx="3063240" cy="2286000"/>
          </a:xfrm>
          <a:prstGeom prst="roundRect">
            <a:avLst>
              <a:gd name="adj" fmla="val 4800"/>
            </a:avLst>
          </a:prstGeom>
          <a:solidFill>
            <a:srgbClr val="F5F8FF"/>
          </a:solidFill>
          <a:ln w="12700">
            <a:solidFill>
              <a:srgbClr val="1E2761"/>
            </a:solidFill>
            <a:prstDash val="solid"/>
          </a:ln>
          <a:effectLst>
            <a:outerShdw blurRad="635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5692140" y="2587752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2335" y="2777947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9160" y="341071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709160" y="37216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OpenCV / face_recognition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754880" y="40233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el rostro, extrae embeddings y calcula la similitud contra el umbral.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503920" y="2331720"/>
            <a:ext cx="3063240" cy="2286000"/>
          </a:xfrm>
          <a:prstGeom prst="roundRect">
            <a:avLst>
              <a:gd name="adj" fmla="val 4800"/>
            </a:avLst>
          </a:prstGeom>
          <a:solidFill>
            <a:srgbClr val="F5F8FF"/>
          </a:solidFill>
          <a:ln w="12700">
            <a:solidFill>
              <a:srgbClr val="1E2761"/>
            </a:solidFill>
            <a:prstDash val="solid"/>
          </a:ln>
          <a:effectLst>
            <a:outerShdw blurRad="635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3"/>
          <p:cNvSpPr/>
          <p:nvPr/>
        </p:nvSpPr>
        <p:spPr>
          <a:xfrm>
            <a:off x="9669780" y="2587752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9975" y="2777947"/>
            <a:ext cx="351130" cy="35113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686800" y="341071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686800" y="37216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732520" y="40233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fecha, puntaje y resultado de cada intento de verificación.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3685032" y="3154680"/>
            <a:ext cx="768096" cy="640080"/>
          </a:xfrm>
          <a:prstGeom prst="rightArrow">
            <a:avLst/>
          </a:prstGeom>
          <a:solidFill>
            <a:srgbClr val="00B8A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Shape 18"/>
          <p:cNvSpPr/>
          <p:nvPr/>
        </p:nvSpPr>
        <p:spPr>
          <a:xfrm>
            <a:off x="7662672" y="3154680"/>
            <a:ext cx="768096" cy="640080"/>
          </a:xfrm>
          <a:prstGeom prst="rightArrow">
            <a:avLst/>
          </a:prstGeom>
          <a:solidFill>
            <a:srgbClr val="00B8A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19"/>
          <p:cNvSpPr/>
          <p:nvPr/>
        </p:nvSpPr>
        <p:spPr>
          <a:xfrm>
            <a:off x="3611880" y="20391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API REST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7589520" y="20391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+ log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640080" y="5074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delega todo el reconocimiento facial al backend: las librerías de visión computacional (dlib, DeepFace) son pesadas de compilar para Android, por lo que el cliente se mantiene liviano.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de verificación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207008" y="1709928"/>
            <a:ext cx="0" cy="402336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914400" y="141732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914400" y="14173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28800" y="144475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captura una fotografía de su documento de identidad.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14400" y="222199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914400" y="22219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28800" y="2249424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captura una selfie en vivo.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14400" y="3026664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914400" y="302666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28800" y="3054096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envía ambas imágenes al backend mediante la API REST.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914400" y="3831336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914400" y="383133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28800" y="385876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backend detecta el rostro en cada imagen y extrae su embedding facial.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914400" y="463600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914400" y="463600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828800" y="466344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calcula la similitud entre ambos embeddings y se compara contra el umbral.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914400" y="5440680"/>
            <a:ext cx="585216" cy="585216"/>
          </a:xfrm>
          <a:prstGeom prst="ellipse">
            <a:avLst/>
          </a:prstGeom>
          <a:solidFill>
            <a:srgbClr val="00B8A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914400" y="54406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828800" y="546811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registra el resultado y la app muestra: acceso concedido o denegado.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tecnológico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F5F8FF"/>
          </a:solidFill>
          <a:ln/>
          <a:effectLst>
            <a:outerShdw blurRad="635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914400" y="18745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204094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62432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móvil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914400" y="29718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Kivy / KivyMD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89120" y="160020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F5F8FF"/>
          </a:solidFill>
          <a:ln/>
          <a:effectLst>
            <a:outerShdw blurRad="635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4663440" y="18745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861" y="204094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63440" y="262432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663440" y="29718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FastAPI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138160" y="160020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F5F8FF"/>
          </a:solidFill>
          <a:ln/>
          <a:effectLst>
            <a:outerShdw blurRad="635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0"/>
          <p:cNvSpPr/>
          <p:nvPr/>
        </p:nvSpPr>
        <p:spPr>
          <a:xfrm>
            <a:off x="8412480" y="18745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8901" y="204094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12480" y="262432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computacional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412480" y="29718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+ face_recognition / DeepFace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40080" y="374904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F5F8FF"/>
          </a:solidFill>
          <a:ln/>
          <a:effectLst>
            <a:outerShdw blurRad="635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4"/>
          <p:cNvSpPr/>
          <p:nvPr/>
        </p:nvSpPr>
        <p:spPr>
          <a:xfrm>
            <a:off x="914400" y="40233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0821" y="418978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4400" y="477316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914400" y="51206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(desarrollo) / PostgreSQL (producción)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389120" y="374904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F5F8FF"/>
          </a:solidFill>
          <a:ln/>
          <a:effectLst>
            <a:outerShdw blurRad="635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4" name="Shape 18"/>
          <p:cNvSpPr/>
          <p:nvPr/>
        </p:nvSpPr>
        <p:spPr>
          <a:xfrm>
            <a:off x="4663440" y="40233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9861" y="4189781"/>
            <a:ext cx="307238" cy="30723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663440" y="477316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versiones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4663440" y="51206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8138160" y="374904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F5F8FF"/>
          </a:solidFill>
          <a:ln/>
          <a:effectLst>
            <a:outerShdw blurRad="635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9" name="Shape 22"/>
          <p:cNvSpPr/>
          <p:nvPr/>
        </p:nvSpPr>
        <p:spPr>
          <a:xfrm>
            <a:off x="8412480" y="40233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8901" y="4189781"/>
            <a:ext cx="307238" cy="30723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412480" y="477316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450" dirty="0"/>
          </a:p>
        </p:txBody>
      </p:sp>
      <p:sp>
        <p:nvSpPr>
          <p:cNvPr id="32" name="Text 24"/>
          <p:cNvSpPr/>
          <p:nvPr/>
        </p:nvSpPr>
        <p:spPr>
          <a:xfrm>
            <a:off x="8412480" y="51206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(backend)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840480" cy="3840480"/>
          </a:xfrm>
          <a:prstGeom prst="ellipse">
            <a:avLst/>
          </a:prstGeom>
          <a:solidFill>
            <a:srgbClr val="161C4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13248" y="1280160"/>
            <a:ext cx="1371600" cy="1371600"/>
          </a:xfrm>
          <a:prstGeom prst="ellipse">
            <a:avLst/>
          </a:prstGeom>
          <a:solidFill>
            <a:srgbClr val="00B8A9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864" y="1636776"/>
            <a:ext cx="658368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3703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comentarios son bienvenidos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497</Words>
  <Application>Microsoft Office PowerPoint</Application>
  <PresentationFormat>Panorámica</PresentationFormat>
  <Paragraphs>75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SYLVAIN . DELICE DELICE</cp:lastModifiedBy>
  <cp:revision>2</cp:revision>
  <dcterms:created xsi:type="dcterms:W3CDTF">2026-08-20T22:49:12Z</dcterms:created>
  <dcterms:modified xsi:type="dcterms:W3CDTF">2026-08-22T00:31:59Z</dcterms:modified>
</cp:coreProperties>
</file>